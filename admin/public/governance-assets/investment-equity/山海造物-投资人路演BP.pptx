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</p:sldIdLst>
  <p:notesMasterIdLst>
    <p:notesMasterId r:id="rId13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notesMaster" Target="notesMasters/notesMaster1.xml"/><Relationship Id="rId14" Type="http://schemas.openxmlformats.org/officeDocument/2006/relationships/presProps" Target="presProps.xml"/><Relationship Id="rId15" Type="http://schemas.openxmlformats.org/officeDocument/2006/relationships/viewProps" Target="viewProps.xml"/><Relationship Id="rId16" Type="http://schemas.openxmlformats.org/officeDocument/2006/relationships/theme" Target="theme/theme1.xml"/><Relationship Id="rId1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3" name="Shape 1"/>
          <p:cNvSpPr/>
          <p:nvPr/>
        </p:nvSpPr>
        <p:spPr>
          <a:xfrm>
            <a:off x="6858000" y="-914400"/>
            <a:ext cx="4572000" cy="4572000"/>
          </a:xfrm>
          <a:prstGeom prst="ellipse">
            <a:avLst/>
          </a:prstGeom>
          <a:solidFill>
            <a:srgbClr val="2D6A4F">
              <a:alpha val="15000"/>
            </a:srgbClr>
          </a:solidFill>
          <a:ln/>
        </p:spPr>
      </p:sp>
      <p:sp>
        <p:nvSpPr>
          <p:cNvPr id="4" name="Shape 2"/>
          <p:cNvSpPr/>
          <p:nvPr/>
        </p:nvSpPr>
        <p:spPr>
          <a:xfrm>
            <a:off x="-1371600" y="2743200"/>
            <a:ext cx="3657600" cy="3657600"/>
          </a:xfrm>
          <a:prstGeom prst="ellipse">
            <a:avLst/>
          </a:prstGeom>
          <a:solidFill>
            <a:srgbClr val="2D6A4F">
              <a:alpha val="10000"/>
            </a:srgbClr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097280"/>
            <a:ext cx="7315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800" b="1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山川造物</a:t>
            </a:r>
            <a:endParaRPr lang="en-US" sz="4800" dirty="0"/>
          </a:p>
        </p:txBody>
      </p:sp>
      <p:sp>
        <p:nvSpPr>
          <p:cNvPr id="6" name="Text 4"/>
          <p:cNvSpPr/>
          <p:nvPr/>
        </p:nvSpPr>
        <p:spPr>
          <a:xfrm>
            <a:off x="731520" y="192024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spc="600" kern="0" dirty="0">
                <a:solidFill>
                  <a:srgbClr val="52B78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NATURE'S CREATION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731520" y="246888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把山川带回家</a:t>
            </a:r>
            <a:endParaRPr lang="en-US" sz="2000" dirty="0"/>
          </a:p>
        </p:txBody>
      </p:sp>
      <p:sp>
        <p:nvSpPr>
          <p:cNvPr id="8" name="Shape 6"/>
          <p:cNvSpPr/>
          <p:nvPr/>
        </p:nvSpPr>
        <p:spPr>
          <a:xfrm>
            <a:off x="731520" y="3108960"/>
            <a:ext cx="1828800" cy="0"/>
          </a:xfrm>
          <a:prstGeom prst="line">
            <a:avLst/>
          </a:prstGeom>
          <a:noFill/>
          <a:ln w="19050">
            <a:solidFill>
              <a:srgbClr val="52B788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31520" y="3383280"/>
            <a:ext cx="64008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自然标本美学生活方式品牌</a:t>
            </a:r>
            <a:endParaRPr lang="en-US" sz="13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3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门店即博物馆 · 品牌授权加盟模式 · AI驱动超级个体运营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731520" y="448056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投资概要  |  2026年4月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6400800" y="4480560"/>
            <a:ext cx="22860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CONFIDENTIAL</a:t>
            </a:r>
            <a:endParaRPr lang="en-US" sz="10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一句话概述</a:t>
            </a:r>
            <a:endParaRPr lang="en-US" sz="1200" dirty="0"/>
          </a:p>
        </p:txBody>
      </p:sp>
      <p:sp>
        <p:nvSpPr>
          <p:cNvPr id="3" name="Text 1"/>
          <p:cNvSpPr/>
          <p:nvPr/>
        </p:nvSpPr>
        <p:spPr>
          <a:xfrm>
            <a:off x="731520" y="1097280"/>
            <a:ext cx="76809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山川造物是中国首个</a:t>
            </a:r>
            <a:pPr indent="0" marL="0">
              <a:buNone/>
            </a:pPr>
            <a:r>
              <a:rPr lang="en-US" sz="2800" b="1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自然标本美学生活方式品牌</a:t>
            </a:r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。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731520" y="2194560"/>
            <a:ext cx="6400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5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我们把蝴蝶、矿石、植物等自然标本，以美学的方式带入普通人的生活空间——书架上、窗台边、孩子的书桌旁。</a:t>
            </a:r>
            <a:endParaRPr lang="en-US" sz="1500" dirty="0"/>
          </a:p>
        </p:txBody>
      </p:sp>
      <p:sp>
        <p:nvSpPr>
          <p:cNvPr id="5" name="Shape 3"/>
          <p:cNvSpPr/>
          <p:nvPr/>
        </p:nvSpPr>
        <p:spPr>
          <a:xfrm>
            <a:off x="731520" y="3200400"/>
            <a:ext cx="7680960" cy="0"/>
          </a:xfrm>
          <a:prstGeom prst="line">
            <a:avLst/>
          </a:prstGeom>
          <a:noFill/>
          <a:ln w="12700">
            <a:solidFill>
              <a:srgbClr val="D8F3DC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3152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5-50,000</a:t>
            </a:r>
            <a:endParaRPr lang="en-US" sz="3200" dirty="0"/>
          </a:p>
        </p:txBody>
      </p:sp>
      <p:sp>
        <p:nvSpPr>
          <p:cNvPr id="7" name="Text 5"/>
          <p:cNvSpPr/>
          <p:nvPr/>
        </p:nvSpPr>
        <p:spPr>
          <a:xfrm>
            <a:off x="73152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产品价格带</a:t>
            </a:r>
            <a:endParaRPr lang="en-US" sz="1100" dirty="0"/>
          </a:p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（元）</a:t>
            </a:r>
            <a:endParaRPr lang="en-US" sz="1100" dirty="0"/>
          </a:p>
        </p:txBody>
      </p:sp>
      <p:sp>
        <p:nvSpPr>
          <p:cNvPr id="8" name="Text 6"/>
          <p:cNvSpPr/>
          <p:nvPr/>
        </p:nvSpPr>
        <p:spPr>
          <a:xfrm>
            <a:off x="73152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从5元入门到5万元镇店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356616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80%</a:t>
            </a:r>
            <a:endParaRPr lang="en-US" sz="3200" dirty="0"/>
          </a:p>
        </p:txBody>
      </p:sp>
      <p:sp>
        <p:nvSpPr>
          <p:cNvPr id="10" name="Text 8"/>
          <p:cNvSpPr/>
          <p:nvPr/>
        </p:nvSpPr>
        <p:spPr>
          <a:xfrm>
            <a:off x="356616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自制率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356616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核心产品自主设计生产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6400800" y="3474720"/>
            <a:ext cx="25603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4:6</a:t>
            </a:r>
            <a:endParaRPr lang="en-US" sz="3200" dirty="0"/>
          </a:p>
        </p:txBody>
      </p:sp>
      <p:sp>
        <p:nvSpPr>
          <p:cNvPr id="13" name="Text 11"/>
          <p:cNvSpPr/>
          <p:nvPr/>
        </p:nvSpPr>
        <p:spPr>
          <a:xfrm>
            <a:off x="6400800" y="3977640"/>
            <a:ext cx="25603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加盟持股比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6400800" y="4434840"/>
            <a:ext cx="25603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品牌40% 投资人60%</a:t>
            </a:r>
            <a:endParaRPr lang="en-US" sz="10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市场机会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840480" cy="347472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Text 2"/>
          <p:cNvSpPr/>
          <p:nvPr/>
        </p:nvSpPr>
        <p:spPr>
          <a:xfrm>
            <a:off x="10058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三个趋势交汇</a:t>
            </a:r>
            <a:endParaRPr lang="en-US" sz="1600" dirty="0"/>
          </a:p>
        </p:txBody>
      </p:sp>
      <p:sp>
        <p:nvSpPr>
          <p:cNvPr id="5" name="Shape 3"/>
          <p:cNvSpPr/>
          <p:nvPr/>
        </p:nvSpPr>
        <p:spPr>
          <a:xfrm>
            <a:off x="1005840" y="1965960"/>
            <a:ext cx="228600" cy="228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6" name="Text 4"/>
          <p:cNvSpPr/>
          <p:nvPr/>
        </p:nvSpPr>
        <p:spPr>
          <a:xfrm>
            <a:off x="1371600" y="192024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自然回归消费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371600" y="219456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城市人群对自然美学、植物、标本类产品的消费持续增长。"把自然搬进家"成为生活方式升级的新方向。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1005840" y="2971800"/>
            <a:ext cx="228600" cy="228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1371600" y="292608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文旅体验经济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371600" y="320040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文创零售从"卖纪念品"转向"卖体验"。门店即目的地，消费者为沉浸式空间体验付费。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1005840" y="3977640"/>
            <a:ext cx="228600" cy="22860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2" name="Text 10"/>
          <p:cNvSpPr/>
          <p:nvPr/>
        </p:nvSpPr>
        <p:spPr>
          <a:xfrm>
            <a:off x="1371600" y="3931920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超级个体+AI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371600" y="4206240"/>
            <a:ext cx="3017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0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AI工具让一个人的品牌运营能力等于3-5人团队。内容、私域、开发都可以AI驱动，极致效率。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46320" y="1188720"/>
            <a:ext cx="3840480" cy="3474720"/>
          </a:xfrm>
          <a:prstGeom prst="rect">
            <a:avLst/>
          </a:prstGeom>
          <a:solidFill>
            <a:srgbClr val="1B4332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5" name="Text 13"/>
          <p:cNvSpPr/>
          <p:nvPr/>
        </p:nvSpPr>
        <p:spPr>
          <a:xfrm>
            <a:off x="5120640" y="1371600"/>
            <a:ext cx="329184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D8F3D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市场空白</a:t>
            </a:r>
            <a:endParaRPr lang="en-US" sz="1600" dirty="0"/>
          </a:p>
        </p:txBody>
      </p:sp>
      <p:sp>
        <p:nvSpPr>
          <p:cNvPr id="16" name="Text 14"/>
          <p:cNvSpPr/>
          <p:nvPr/>
        </p:nvSpPr>
        <p:spPr>
          <a:xfrm>
            <a:off x="5120640" y="1920240"/>
            <a:ext cx="3291840" cy="2560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中国自然标本行业高度分散，以淘宝白牌和景区地摊为主。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没有一个品牌做到：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统一的品牌识别 + 标准化产品线 + 可复制的门店体验 + 线上内容矩阵。</a:t>
            </a: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endParaRPr lang="en-US" sz="1200" dirty="0"/>
          </a:p>
          <a:p>
            <a:pPr indent="0" marL="0">
              <a:lnSpc>
                <a:spcPct val="160000"/>
              </a:lnSpc>
              <a:buNone/>
            </a:pPr>
            <a:r>
              <a:rPr lang="en-US" sz="12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山川造物要做的，就是这个品类的第一个品牌。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产品矩阵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六层金字塔覆盖5元到50,000元全价格带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566160" y="1463040"/>
            <a:ext cx="2011680" cy="457200"/>
          </a:xfrm>
          <a:prstGeom prst="rect">
            <a:avLst/>
          </a:prstGeom>
          <a:solidFill>
            <a:srgbClr val="993C1D"/>
          </a:solidFill>
          <a:ln/>
        </p:spPr>
      </p:sp>
      <p:sp>
        <p:nvSpPr>
          <p:cNvPr id="5" name="Text 3"/>
          <p:cNvSpPr/>
          <p:nvPr/>
        </p:nvSpPr>
        <p:spPr>
          <a:xfrm>
            <a:off x="3703320" y="14630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镇店展陈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394960" y="14630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10,000-50,000元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6766560" y="1463040"/>
            <a:ext cx="-13258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黑马、拟人化标本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2971800" y="2011680"/>
            <a:ext cx="3200400" cy="457200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9" name="Text 7"/>
          <p:cNvSpPr/>
          <p:nvPr/>
        </p:nvSpPr>
        <p:spPr>
          <a:xfrm>
            <a:off x="3108960" y="201168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臻品收藏</a:t>
            </a:r>
            <a:endParaRPr lang="en-US" sz="1100" dirty="0"/>
          </a:p>
        </p:txBody>
      </p:sp>
      <p:sp>
        <p:nvSpPr>
          <p:cNvPr id="10" name="Text 8"/>
          <p:cNvSpPr/>
          <p:nvPr/>
        </p:nvSpPr>
        <p:spPr>
          <a:xfrm>
            <a:off x="4800600" y="201168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3,000-10,000元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6172200" y="2011680"/>
            <a:ext cx="-137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乌鸦、鳄鱼、装饰化标本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377440" y="2560320"/>
            <a:ext cx="4389120" cy="457200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2514600" y="256032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高端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4206240" y="256032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800-3,000元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5577840" y="2560320"/>
            <a:ext cx="10515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大型相框、爬行类、鸟类</a:t>
            </a:r>
            <a:endParaRPr lang="en-US" sz="1000" dirty="0"/>
          </a:p>
        </p:txBody>
      </p:sp>
      <p:sp>
        <p:nvSpPr>
          <p:cNvPr id="16" name="Shape 14"/>
          <p:cNvSpPr/>
          <p:nvPr/>
        </p:nvSpPr>
        <p:spPr>
          <a:xfrm>
            <a:off x="1783080" y="3108960"/>
            <a:ext cx="5577840" cy="457200"/>
          </a:xfrm>
          <a:prstGeom prst="rect">
            <a:avLst/>
          </a:prstGeom>
          <a:solidFill>
            <a:srgbClr val="1D9E75"/>
          </a:solidFill>
          <a:ln/>
        </p:spPr>
      </p:sp>
      <p:sp>
        <p:nvSpPr>
          <p:cNvPr id="17" name="Text 15"/>
          <p:cNvSpPr/>
          <p:nvPr/>
        </p:nvSpPr>
        <p:spPr>
          <a:xfrm>
            <a:off x="1920240" y="310896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核心利润区</a:t>
            </a:r>
            <a:endParaRPr lang="en-US" sz="1100" dirty="0"/>
          </a:p>
        </p:txBody>
      </p:sp>
      <p:sp>
        <p:nvSpPr>
          <p:cNvPr id="18" name="Text 16"/>
          <p:cNvSpPr/>
          <p:nvPr/>
        </p:nvSpPr>
        <p:spPr>
          <a:xfrm>
            <a:off x="3611880" y="310896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200-800元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4983480" y="3108960"/>
            <a:ext cx="2240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蝴蝶罩/框系列、集合框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1188720" y="3657600"/>
            <a:ext cx="6766560" cy="457200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21" name="Text 19"/>
          <p:cNvSpPr/>
          <p:nvPr/>
        </p:nvSpPr>
        <p:spPr>
          <a:xfrm>
            <a:off x="1325880" y="365760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入门体验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3017520" y="365760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50-200元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4389120" y="3657600"/>
            <a:ext cx="34290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小号蝴蝶罩、基础首饰、香薰</a:t>
            </a:r>
            <a:endParaRPr lang="en-US" sz="1000" dirty="0"/>
          </a:p>
        </p:txBody>
      </p:sp>
      <p:sp>
        <p:nvSpPr>
          <p:cNvPr id="24" name="Shape 22"/>
          <p:cNvSpPr/>
          <p:nvPr/>
        </p:nvSpPr>
        <p:spPr>
          <a:xfrm>
            <a:off x="731520" y="4206240"/>
            <a:ext cx="7680960" cy="457200"/>
          </a:xfrm>
          <a:prstGeom prst="rect">
            <a:avLst/>
          </a:prstGeom>
          <a:solidFill>
            <a:srgbClr val="888780"/>
          </a:solidFill>
          <a:ln/>
        </p:spPr>
      </p:sp>
      <p:sp>
        <p:nvSpPr>
          <p:cNvPr id="25" name="Text 23"/>
          <p:cNvSpPr/>
          <p:nvPr/>
        </p:nvSpPr>
        <p:spPr>
          <a:xfrm>
            <a:off x="868680" y="4206240"/>
            <a:ext cx="16459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引流</a:t>
            </a:r>
            <a:endParaRPr lang="en-US" sz="1100" dirty="0"/>
          </a:p>
        </p:txBody>
      </p:sp>
      <p:sp>
        <p:nvSpPr>
          <p:cNvPr id="26" name="Text 24"/>
          <p:cNvSpPr/>
          <p:nvPr/>
        </p:nvSpPr>
        <p:spPr>
          <a:xfrm>
            <a:off x="2560320" y="4206240"/>
            <a:ext cx="1371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5-50元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3931920" y="4206240"/>
            <a:ext cx="4343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8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种子罩、冰箱贴、四叶草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731520" y="457200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五条核心标品线：蝴蝶玻璃罩系列（4系列×3尺寸=12 SKU）| 蝴蝶相框系列 | 自然物集合框 | 迷你种子罩 | 自然材质首饰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商业模式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品牌平台公司 + 门店投资实体 · 双层分离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371600"/>
            <a:ext cx="7680960" cy="1645920"/>
          </a:xfrm>
          <a:prstGeom prst="rect">
            <a:avLst/>
          </a:prstGeom>
          <a:solidFill>
            <a:srgbClr val="1B4332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D8F3D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公司层：品牌平台</a:t>
            </a:r>
            <a:endParaRPr lang="en-US" sz="14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4572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拥有品牌、商标、VI、供应链、SOP、线上渠道、内容体系等全部核心资产。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不直接承担门店资金压力，通过品牌和管理能力撬动外部资本扩张。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5943600" y="14630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2B788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公司收入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5943600" y="1828800"/>
            <a:ext cx="228600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① 门店40%股权分红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② 产品供货差价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③ 品牌管理费（3-5%营收）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④ 线上直营收入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⑤ B端/IP收入（远期）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731520" y="3383280"/>
            <a:ext cx="2468880" cy="155448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0" name="Text 8"/>
          <p:cNvSpPr/>
          <p:nvPr/>
        </p:nvSpPr>
        <p:spPr>
          <a:xfrm>
            <a:off x="8686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加盟门店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86868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主力扩张模式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86868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投资人出资60%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公司品牌入股40%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投资人不参与经营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仅享分红权+知情权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3474720" y="3383280"/>
            <a:ext cx="2468880" cy="1554480"/>
          </a:xfrm>
          <a:prstGeom prst="rect">
            <a:avLst/>
          </a:prstGeom>
          <a:solidFill>
            <a:srgbClr val="8B6F47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36118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直营旗舰店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61188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品牌标杆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61188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公司100%出资运营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新品测试+培训基地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内容创作/直播场地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加盟商参观样板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6217920" y="3383280"/>
            <a:ext cx="2468880" cy="1554480"/>
          </a:xfrm>
          <a:prstGeom prst="rect">
            <a:avLst/>
          </a:prstGeom>
          <a:solidFill>
            <a:srgbClr val="888780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8" name="Text 16"/>
          <p:cNvSpPr/>
          <p:nvPr/>
        </p:nvSpPr>
        <p:spPr>
          <a:xfrm>
            <a:off x="6355080" y="3474720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现有长春店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355080" y="374904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FFFFFF">
                    <a:alpha val="70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历史衔接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355080" y="4023360"/>
            <a:ext cx="21945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原协议独立运行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品牌授权协议衔接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不改变原有权益</a:t>
            </a:r>
            <a:endParaRPr lang="en-US" sz="10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1000" dirty="0">
                <a:solidFill>
                  <a:srgbClr val="FFFFF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作为模式验证原型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3200400" y="3063240"/>
            <a:ext cx="2743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品牌+管理+供应链 输出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增长飞轮与核心壁垒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胖东来模型：C端的强认可驱动一切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3200400" y="137160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3200400" y="13716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极致门店体验</a:t>
            </a:r>
            <a:endParaRPr lang="en-US" sz="1000" dirty="0"/>
          </a:p>
        </p:txBody>
      </p:sp>
      <p:sp>
        <p:nvSpPr>
          <p:cNvPr id="6" name="Shape 4"/>
          <p:cNvSpPr/>
          <p:nvPr/>
        </p:nvSpPr>
        <p:spPr>
          <a:xfrm>
            <a:off x="5943600" y="201168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7" name="Text 5"/>
          <p:cNvSpPr/>
          <p:nvPr/>
        </p:nvSpPr>
        <p:spPr>
          <a:xfrm>
            <a:off x="5943600" y="20116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社交内容传播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6400800" y="301752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9" name="Text 7"/>
          <p:cNvSpPr/>
          <p:nvPr/>
        </p:nvSpPr>
        <p:spPr>
          <a:xfrm>
            <a:off x="6400800" y="301752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品牌认知+社群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4572000" y="384048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1" name="Text 9"/>
          <p:cNvSpPr/>
          <p:nvPr/>
        </p:nvSpPr>
        <p:spPr>
          <a:xfrm>
            <a:off x="457200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加盟扩张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2286000" y="384048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3" name="Text 11"/>
          <p:cNvSpPr/>
          <p:nvPr/>
        </p:nvSpPr>
        <p:spPr>
          <a:xfrm>
            <a:off x="2286000" y="384048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供应链优化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914400" y="2743200"/>
            <a:ext cx="1645920" cy="640080"/>
          </a:xfrm>
          <a:prstGeom prst="ellipse">
            <a:avLst/>
          </a:prstGeom>
          <a:solidFill>
            <a:srgbClr val="2D6A4F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2743200"/>
            <a:ext cx="16459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产品创新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474720" y="2560320"/>
            <a:ext cx="109728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品牌</a:t>
            </a:r>
            <a:endParaRPr lang="en-US" sz="1400" dirty="0"/>
          </a:p>
          <a:p>
            <a:pPr algn="ctr" indent="0" marL="0">
              <a:buNone/>
            </a:pPr>
            <a:r>
              <a:rPr lang="en-US" sz="1400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+内容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457200" y="4617720"/>
            <a:ext cx="8229600" cy="18288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8" name="Text 16"/>
          <p:cNvSpPr/>
          <p:nvPr/>
        </p:nvSpPr>
        <p:spPr>
          <a:xfrm>
            <a:off x="731520" y="470916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壁垒：门店即博物馆（不可线上复制）｜ 区域主题化（每城独有）｜ AI超级个体（极低运营成本）｜ 品牌内容资产（持续积累）</a:t>
            </a:r>
            <a:endParaRPr lang="en-US" sz="10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73152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门店即博物馆 · 区域主题化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70%全国统一标品 + 30%在地特色 → 每家店都值得专程去</a:t>
            </a:r>
            <a:endParaRPr lang="en-US" sz="1200" dirty="0"/>
          </a:p>
        </p:txBody>
      </p:sp>
      <p:sp>
        <p:nvSpPr>
          <p:cNvPr id="4" name="Shape 2"/>
          <p:cNvSpPr/>
          <p:nvPr/>
        </p:nvSpPr>
        <p:spPr>
          <a:xfrm>
            <a:off x="731520" y="1463040"/>
            <a:ext cx="2560320" cy="1371600"/>
          </a:xfrm>
          <a:prstGeom prst="rect">
            <a:avLst/>
          </a:prstGeom>
          <a:solidFill>
            <a:srgbClr val="185FA5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91440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长春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91440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东北物种 · 冰雪 · 长白山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566160" y="1463040"/>
            <a:ext cx="2560320" cy="1371600"/>
          </a:xfrm>
          <a:prstGeom prst="rect">
            <a:avLst/>
          </a:prstGeom>
          <a:solidFill>
            <a:srgbClr val="2D6A4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8" name="Text 6"/>
          <p:cNvSpPr/>
          <p:nvPr/>
        </p:nvSpPr>
        <p:spPr>
          <a:xfrm>
            <a:off x="374904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大理</a:t>
            </a:r>
            <a:endParaRPr lang="en-US" sz="2000" dirty="0"/>
          </a:p>
        </p:txBody>
      </p:sp>
      <p:sp>
        <p:nvSpPr>
          <p:cNvPr id="9" name="Text 7"/>
          <p:cNvSpPr/>
          <p:nvPr/>
        </p:nvSpPr>
        <p:spPr>
          <a:xfrm>
            <a:off x="374904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热带雨林 · 蝴蝶王国 · 云南生物多样性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400800" y="1463040"/>
            <a:ext cx="2560320" cy="1371600"/>
          </a:xfrm>
          <a:prstGeom prst="rect">
            <a:avLst/>
          </a:prstGeom>
          <a:solidFill>
            <a:srgbClr val="534AB7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1" name="Text 9"/>
          <p:cNvSpPr/>
          <p:nvPr/>
        </p:nvSpPr>
        <p:spPr>
          <a:xfrm>
            <a:off x="6583680" y="16002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上海</a:t>
            </a:r>
            <a:endParaRPr lang="en-US" sz="2000" dirty="0"/>
          </a:p>
        </p:txBody>
      </p:sp>
      <p:sp>
        <p:nvSpPr>
          <p:cNvPr id="12" name="Text 10"/>
          <p:cNvSpPr/>
          <p:nvPr/>
        </p:nvSpPr>
        <p:spPr>
          <a:xfrm>
            <a:off x="6583680" y="205740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都市自然回归 · 长三角生态 · 博物馆级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3108960"/>
            <a:ext cx="2560320" cy="1371600"/>
          </a:xfrm>
          <a:prstGeom prst="rect">
            <a:avLst/>
          </a:prstGeom>
          <a:solidFill>
            <a:srgbClr val="8B6F47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4" name="Text 12"/>
          <p:cNvSpPr/>
          <p:nvPr/>
        </p:nvSpPr>
        <p:spPr>
          <a:xfrm>
            <a:off x="91440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杭州</a:t>
            </a:r>
            <a:endParaRPr lang="en-US" sz="2000" dirty="0"/>
          </a:p>
        </p:txBody>
      </p:sp>
      <p:sp>
        <p:nvSpPr>
          <p:cNvPr id="15" name="Text 13"/>
          <p:cNvSpPr/>
          <p:nvPr/>
        </p:nvSpPr>
        <p:spPr>
          <a:xfrm>
            <a:off x="91440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西湖茶韵 · 宋代美学 · 植物标本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3566160" y="3108960"/>
            <a:ext cx="2560320" cy="1371600"/>
          </a:xfrm>
          <a:prstGeom prst="rect">
            <a:avLst/>
          </a:prstGeom>
          <a:solidFill>
            <a:srgbClr val="1D9E75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7" name="Text 15"/>
          <p:cNvSpPr/>
          <p:nvPr/>
        </p:nvSpPr>
        <p:spPr>
          <a:xfrm>
            <a:off x="374904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成都</a:t>
            </a:r>
            <a:endParaRPr lang="en-US" sz="2000" dirty="0"/>
          </a:p>
        </p:txBody>
      </p:sp>
      <p:sp>
        <p:nvSpPr>
          <p:cNvPr id="18" name="Text 16"/>
          <p:cNvSpPr/>
          <p:nvPr/>
        </p:nvSpPr>
        <p:spPr>
          <a:xfrm>
            <a:off x="374904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四川盆地 · 大熊猫栖息地 · 山地草药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3108960"/>
            <a:ext cx="2560320" cy="1371600"/>
          </a:xfrm>
          <a:prstGeom prst="rect">
            <a:avLst/>
          </a:prstGeom>
          <a:solidFill>
            <a:srgbClr val="378ADD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Text 18"/>
          <p:cNvSpPr/>
          <p:nvPr/>
        </p:nvSpPr>
        <p:spPr>
          <a:xfrm>
            <a:off x="6583680" y="324612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海南</a:t>
            </a:r>
            <a:endParaRPr lang="en-US" sz="2000" dirty="0"/>
          </a:p>
        </p:txBody>
      </p:sp>
      <p:sp>
        <p:nvSpPr>
          <p:cNvPr id="21" name="Text 19"/>
          <p:cNvSpPr/>
          <p:nvPr/>
        </p:nvSpPr>
        <p:spPr>
          <a:xfrm>
            <a:off x="6583680" y="3703320"/>
            <a:ext cx="21945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1100" dirty="0">
                <a:solidFill>
                  <a:srgbClr val="FFFFFF">
                    <a:alpha val="85000"/>
                  </a:srgbClr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海洋珊瑚 · 热带海洋标本 · 贝壳艺术</a:t>
            </a:r>
            <a:endParaRPr lang="en-US" sz="11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团队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365760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100584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李贺  |  CEO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100584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52B7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执行董事 · 总经理 · 45%股权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1005840" y="22860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前优酷、支付宝、Bilibili互联网从业者。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负责公司战略、品牌建设、财务法务、线上化、内容营销、对外商务。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技术栈：Vue.js + Cursor AI开发。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超级个体模式：1人+AI工具矩阵 = 3-5人团队产出。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4754880" y="1188720"/>
            <a:ext cx="365760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9" name="Shape 7"/>
          <p:cNvSpPr/>
          <p:nvPr/>
        </p:nvSpPr>
        <p:spPr>
          <a:xfrm>
            <a:off x="4754880" y="1188720"/>
            <a:ext cx="3657600" cy="5486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0" name="Text 8"/>
          <p:cNvSpPr/>
          <p:nvPr/>
        </p:nvSpPr>
        <p:spPr>
          <a:xfrm>
            <a:off x="5029200" y="1463040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廉澍  |  产品总监</a:t>
            </a: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5029200" y="1828800"/>
            <a:ext cx="3108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C9A96E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项目发起人 · 技术合伙人 · 35%股权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0" y="2286000"/>
            <a:ext cx="3108960" cy="1920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山川造物品牌创始人，专业标本设计师。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负责产品创意、设计、制作全流程，新品研发，质量管控，原料采购与供应商管理。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管理标本工作室：2名标本师 + 若干美院实习生轮转制。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731520" y="4572000"/>
            <a:ext cx="7680960" cy="411480"/>
          </a:xfrm>
          <a:prstGeom prst="rect">
            <a:avLst/>
          </a:prstGeom>
          <a:solidFill>
            <a:srgbClr val="D8F3DC"/>
          </a:solidFill>
          <a:ln/>
        </p:spPr>
      </p:sp>
      <p:sp>
        <p:nvSpPr>
          <p:cNvPr id="14" name="Text 12"/>
          <p:cNvSpPr/>
          <p:nvPr/>
        </p:nvSpPr>
        <p:spPr>
          <a:xfrm>
            <a:off x="1005840" y="457200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2D6A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人才期权池 20%（双方各出10%）— 预留给线上运营、店长、设计师等核心岗位</a:t>
            </a:r>
            <a:endParaRPr lang="en-US" sz="11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单店经济模型</a:t>
            </a:r>
            <a:endParaRPr lang="en-US" sz="2800" dirty="0"/>
          </a:p>
        </p:txBody>
      </p:sp>
      <p:sp>
        <p:nvSpPr>
          <p:cNvPr id="3" name="Text 1"/>
          <p:cNvSpPr/>
          <p:nvPr/>
        </p:nvSpPr>
        <p:spPr>
          <a:xfrm>
            <a:off x="731520" y="82296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加盟门店标准模型（估算）</a:t>
            </a:r>
            <a:endParaRPr lang="en-US" sz="12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31520" y="1371600"/>
          <a:ext cx="7680960" cy="914400"/>
        </p:xfrm>
        <a:graphic>
          <a:graphicData uri="http://schemas.openxmlformats.org/drawingml/2006/table">
            <a:tbl>
              <a:tblPr/>
              <a:tblGrid>
                <a:gridCol w="1828800"/>
                <a:gridCol w="1828800"/>
                <a:gridCol w="4023360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指标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数值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b="1" dirty="0">
                          <a:solidFill>
                            <a:srgbClr val="FFFFFF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说明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D6A4F"/>
                    </a:solidFill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初始投资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30-50万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选址装修+首批库存+开业费用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月均营收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8-15万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基于现有长春店数据推演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毛利率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60-70%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自制产品毛利高，外采标品毛利中等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月固定成本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3-5万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租金+人工+水电+杂费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月净利润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2-6万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扣除所有成本后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预计回本周期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12-18个月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保守估计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04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公司从单店获得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管理费+供货差价+分红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100" dirty="0">
                          <a:solidFill>
                            <a:srgbClr val="2C2C2C"/>
                          </a:solidFill>
                          <a:latin typeface="SimSun" pitchFamily="34" charset="0"/>
                          <a:ea typeface="SimSun" pitchFamily="34" charset="-122"/>
                          <a:cs typeface="SimSun" pitchFamily="34" charset="-120"/>
                        </a:rPr>
                        <a:t>多层收入结构</a:t>
                      </a:r>
                      <a:endParaRPr lang="en-US" sz="1100" dirty="0">
                        <a:latin typeface="SimSun" charset="0"/>
                        <a:ea typeface="SimSun" charset="0"/>
                        <a:cs typeface="SimSun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D5D3CC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731520" y="4389120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注：以上为基于现有门店运营数据的保守推演，实际数据因城市、选址、面积不同而异。详细财务模型另行提供。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AFAF5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365760"/>
            <a:ext cx="36576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dirty="0">
                <a:solidFill>
                  <a:srgbClr val="2C2C2C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融资规划</a:t>
            </a:r>
            <a:endParaRPr lang="en-US" sz="2800" dirty="0"/>
          </a:p>
        </p:txBody>
      </p:sp>
      <p:sp>
        <p:nvSpPr>
          <p:cNvPr id="3" name="Shape 1"/>
          <p:cNvSpPr/>
          <p:nvPr/>
        </p:nvSpPr>
        <p:spPr>
          <a:xfrm>
            <a:off x="73152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4" name="Shape 2"/>
          <p:cNvSpPr/>
          <p:nvPr/>
        </p:nvSpPr>
        <p:spPr>
          <a:xfrm>
            <a:off x="731520" y="1188720"/>
            <a:ext cx="2560320" cy="54864"/>
          </a:xfrm>
          <a:prstGeom prst="rect">
            <a:avLst/>
          </a:prstGeom>
          <a:solidFill>
            <a:srgbClr val="2D6A4F"/>
          </a:solidFill>
          <a:ln/>
        </p:spPr>
      </p:sp>
      <p:sp>
        <p:nvSpPr>
          <p:cNvPr id="5" name="Text 3"/>
          <p:cNvSpPr/>
          <p:nvPr/>
        </p:nvSpPr>
        <p:spPr>
          <a:xfrm>
            <a:off x="91440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2D6A4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种子期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91440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现在 → 第2家店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91440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估值区间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2D6A4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300-500万</a:t>
            </a:r>
            <a:endParaRPr lang="en-US" sz="1800" dirty="0"/>
          </a:p>
        </p:txBody>
      </p:sp>
      <p:sp>
        <p:nvSpPr>
          <p:cNvPr id="9" name="Text 7"/>
          <p:cNvSpPr/>
          <p:nvPr/>
        </p:nvSpPr>
        <p:spPr>
          <a:xfrm>
            <a:off x="91440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资金用途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91440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品牌VI落地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包装升级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线上渠道建设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首家加盟店支持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356616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3566160" y="1188720"/>
            <a:ext cx="2560320" cy="54864"/>
          </a:xfrm>
          <a:prstGeom prst="rect">
            <a:avLst/>
          </a:prstGeom>
          <a:solidFill>
            <a:srgbClr val="8B6F47"/>
          </a:solidFill>
          <a:ln/>
        </p:spPr>
      </p:sp>
      <p:sp>
        <p:nvSpPr>
          <p:cNvPr id="13" name="Text 11"/>
          <p:cNvSpPr/>
          <p:nvPr/>
        </p:nvSpPr>
        <p:spPr>
          <a:xfrm>
            <a:off x="374904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8B6F4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天使轮</a:t>
            </a:r>
            <a:endParaRPr lang="en-US" sz="1800" dirty="0"/>
          </a:p>
        </p:txBody>
      </p:sp>
      <p:sp>
        <p:nvSpPr>
          <p:cNvPr id="14" name="Text 12"/>
          <p:cNvSpPr/>
          <p:nvPr/>
        </p:nvSpPr>
        <p:spPr>
          <a:xfrm>
            <a:off x="374904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2-3家店验证后</a:t>
            </a:r>
            <a:endParaRPr lang="en-US" sz="1000" dirty="0"/>
          </a:p>
        </p:txBody>
      </p:sp>
      <p:sp>
        <p:nvSpPr>
          <p:cNvPr id="15" name="Text 13"/>
          <p:cNvSpPr/>
          <p:nvPr/>
        </p:nvSpPr>
        <p:spPr>
          <a:xfrm>
            <a:off x="374904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估值区间</a:t>
            </a:r>
            <a:endParaRPr lang="en-US" sz="900" dirty="0"/>
          </a:p>
        </p:txBody>
      </p:sp>
      <p:sp>
        <p:nvSpPr>
          <p:cNvPr id="16" name="Text 14"/>
          <p:cNvSpPr/>
          <p:nvPr/>
        </p:nvSpPr>
        <p:spPr>
          <a:xfrm>
            <a:off x="374904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8B6F4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800-2000万</a:t>
            </a:r>
            <a:endParaRPr lang="en-US" sz="1800" dirty="0"/>
          </a:p>
        </p:txBody>
      </p:sp>
      <p:sp>
        <p:nvSpPr>
          <p:cNvPr id="17" name="Text 15"/>
          <p:cNvSpPr/>
          <p:nvPr/>
        </p:nvSpPr>
        <p:spPr>
          <a:xfrm>
            <a:off x="374904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资金用途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374904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供应链中心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跨城市运营体系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团队扩充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直营旗舰店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6400800" y="1188720"/>
            <a:ext cx="2560320" cy="3200400"/>
          </a:xfrm>
          <a:prstGeom prst="rect">
            <a:avLst/>
          </a:prstGeom>
          <a:solidFill>
            <a:srgbClr val="FFFFFF"/>
          </a:solidFill>
          <a:ln/>
          <a:effectLst>
            <a:outerShdw sx="100000" sy="100000" kx="0" ky="0" algn="bl" rotWithShape="0" blurRad="50800" dist="19050" dir="8100000">
              <a:srgbClr val="000000">
                <a:alpha val="8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6400800" y="1188720"/>
            <a:ext cx="2560320" cy="54864"/>
          </a:xfrm>
          <a:prstGeom prst="rect">
            <a:avLst/>
          </a:prstGeom>
          <a:solidFill>
            <a:srgbClr val="534AB7"/>
          </a:solidFill>
          <a:ln/>
        </p:spPr>
      </p:sp>
      <p:sp>
        <p:nvSpPr>
          <p:cNvPr id="21" name="Text 19"/>
          <p:cNvSpPr/>
          <p:nvPr/>
        </p:nvSpPr>
        <p:spPr>
          <a:xfrm>
            <a:off x="6583680" y="137160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534AB7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A轮</a:t>
            </a:r>
            <a:endParaRPr lang="en-US" sz="1800" dirty="0"/>
          </a:p>
        </p:txBody>
      </p:sp>
      <p:sp>
        <p:nvSpPr>
          <p:cNvPr id="22" name="Text 20"/>
          <p:cNvSpPr/>
          <p:nvPr/>
        </p:nvSpPr>
        <p:spPr>
          <a:xfrm>
            <a:off x="6583680" y="1737360"/>
            <a:ext cx="21945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5+家店规模化</a:t>
            </a:r>
            <a:endParaRPr lang="en-US" sz="1000" dirty="0"/>
          </a:p>
        </p:txBody>
      </p:sp>
      <p:sp>
        <p:nvSpPr>
          <p:cNvPr id="23" name="Text 21"/>
          <p:cNvSpPr/>
          <p:nvPr/>
        </p:nvSpPr>
        <p:spPr>
          <a:xfrm>
            <a:off x="6583680" y="219456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估值区间</a:t>
            </a:r>
            <a:endParaRPr lang="en-US" sz="900" dirty="0"/>
          </a:p>
        </p:txBody>
      </p:sp>
      <p:sp>
        <p:nvSpPr>
          <p:cNvPr id="24" name="Text 22"/>
          <p:cNvSpPr/>
          <p:nvPr/>
        </p:nvSpPr>
        <p:spPr>
          <a:xfrm>
            <a:off x="6583680" y="2377440"/>
            <a:ext cx="21945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534AB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3000万-1亿</a:t>
            </a:r>
            <a:endParaRPr lang="en-US" sz="1800" dirty="0"/>
          </a:p>
        </p:txBody>
      </p:sp>
      <p:sp>
        <p:nvSpPr>
          <p:cNvPr id="25" name="Text 23"/>
          <p:cNvSpPr/>
          <p:nvPr/>
        </p:nvSpPr>
        <p:spPr>
          <a:xfrm>
            <a:off x="6583680" y="2926080"/>
            <a:ext cx="219456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资金用途</a:t>
            </a:r>
            <a:endParaRPr lang="en-US" sz="900" dirty="0"/>
          </a:p>
        </p:txBody>
      </p:sp>
      <p:sp>
        <p:nvSpPr>
          <p:cNvPr id="26" name="Text 24"/>
          <p:cNvSpPr/>
          <p:nvPr/>
        </p:nvSpPr>
        <p:spPr>
          <a:xfrm>
            <a:off x="6583680" y="3200400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全国扩张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海外市场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IP开发</a:t>
            </a:r>
            <a:endParaRPr lang="en-US" sz="11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100" dirty="0">
                <a:solidFill>
                  <a:srgbClr val="6B6B6B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数字生态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731520" y="466344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2D6A4F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投资人进入公司层面（非门店层面）| 每轮出让不超20%股权 | 创始人合计持股不低于51%底线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1B4332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486400" y="-1828800"/>
            <a:ext cx="6400800" cy="6400800"/>
          </a:xfrm>
          <a:prstGeom prst="ellipse">
            <a:avLst/>
          </a:prstGeom>
          <a:solidFill>
            <a:srgbClr val="2D6A4F">
              <a:alpha val="12000"/>
            </a:srgbClr>
          </a:solidFill>
          <a:ln/>
        </p:spPr>
      </p:sp>
      <p:sp>
        <p:nvSpPr>
          <p:cNvPr id="3" name="Text 1"/>
          <p:cNvSpPr/>
          <p:nvPr/>
        </p:nvSpPr>
        <p:spPr>
          <a:xfrm>
            <a:off x="731520" y="731520"/>
            <a:ext cx="2743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愿景</a:t>
            </a:r>
            <a:endParaRPr lang="en-US" sz="1200" dirty="0"/>
          </a:p>
        </p:txBody>
      </p:sp>
      <p:sp>
        <p:nvSpPr>
          <p:cNvPr id="4" name="Text 2"/>
          <p:cNvSpPr/>
          <p:nvPr/>
        </p:nvSpPr>
        <p:spPr>
          <a:xfrm>
            <a:off x="731520" y="1371600"/>
            <a:ext cx="7315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让每一座城市</a:t>
            </a:r>
            <a:endParaRPr lang="en-US" sz="3200" dirty="0"/>
          </a:p>
          <a:p>
            <a:pPr indent="0" marL="0">
              <a:lnSpc>
                <a:spcPct val="140000"/>
              </a:lnSpc>
              <a:buNone/>
            </a:pPr>
            <a:r>
              <a:rPr lang="en-US" sz="3200" dirty="0">
                <a:solidFill>
                  <a:srgbClr val="FFFFFF"/>
                </a:solidFill>
                <a:latin typeface="SimHei" pitchFamily="34" charset="0"/>
                <a:ea typeface="SimHei" pitchFamily="34" charset="-122"/>
                <a:cs typeface="SimHei" pitchFamily="34" charset="-120"/>
              </a:rPr>
              <a:t>都有一座山川的博物馆</a:t>
            </a:r>
            <a:endParaRPr lang="en-US" sz="3200" dirty="0"/>
          </a:p>
        </p:txBody>
      </p:sp>
      <p:sp>
        <p:nvSpPr>
          <p:cNvPr id="5" name="Text 3"/>
          <p:cNvSpPr/>
          <p:nvPr/>
        </p:nvSpPr>
        <p:spPr>
          <a:xfrm>
            <a:off x="731520" y="3017520"/>
            <a:ext cx="7315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52B788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自然 · 标本 · 美艺 · 生活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731520" y="3749040"/>
            <a:ext cx="1828800" cy="0"/>
          </a:xfrm>
          <a:prstGeom prst="line">
            <a:avLst/>
          </a:prstGeom>
          <a:noFill/>
          <a:ln w="12700">
            <a:solidFill>
              <a:srgbClr val="52B788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402336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山川造物 | Nature's Creation</a:t>
            </a:r>
            <a:endParaRPr lang="en-US" sz="1400" dirty="0"/>
          </a:p>
          <a:p>
            <a:pPr indent="0" marL="0">
              <a:lnSpc>
                <a:spcPct val="150000"/>
              </a:lnSpc>
              <a:buNone/>
            </a:pPr>
            <a:r>
              <a:rPr lang="en-US" sz="1400" dirty="0">
                <a:solidFill>
                  <a:srgbClr val="D8F3DC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把山川带回家</a:t>
            </a:r>
            <a:endParaRPr lang="en-US" sz="1400" dirty="0"/>
          </a:p>
        </p:txBody>
      </p:sp>
      <p:sp>
        <p:nvSpPr>
          <p:cNvPr id="8" name="Text 6"/>
          <p:cNvSpPr/>
          <p:nvPr/>
        </p:nvSpPr>
        <p:spPr>
          <a:xfrm>
            <a:off x="731520" y="4663440"/>
            <a:ext cx="4572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A0A0A0"/>
                </a:solidFill>
                <a:latin typeface="SimSun" pitchFamily="34" charset="0"/>
                <a:ea typeface="SimSun" pitchFamily="34" charset="-122"/>
                <a:cs typeface="SimSun" pitchFamily="34" charset="-120"/>
              </a:rPr>
              <a:t>联系方式：[待填写]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11</Slides>
  <Notes>11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4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山川造物 Nature's Creation — 投资概要</dc:title>
  <dc:subject>PptxGenJS Presentation</dc:subject>
  <dc:creator>山川造物</dc:creator>
  <cp:lastModifiedBy>山川造物</cp:lastModifiedBy>
  <cp:revision>1</cp:revision>
  <dcterms:created xsi:type="dcterms:W3CDTF">2026-04-14T07:48:10Z</dcterms:created>
  <dcterms:modified xsi:type="dcterms:W3CDTF">2026-04-14T07:48:10Z</dcterms:modified>
</cp:coreProperties>
</file>