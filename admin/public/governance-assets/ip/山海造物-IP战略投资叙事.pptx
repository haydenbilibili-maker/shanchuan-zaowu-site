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C4A76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C4A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· IP STRATEGY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IP战略：被严重低估的长期价值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09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Undervalued Long-term Asset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10698480" cy="2103120"/>
          </a:xfrm>
          <a:prstGeom prst="rect">
            <a:avLst/>
          </a:prstGeom>
          <a:solidFill>
            <a:srgbClr val="262320"/>
          </a:solidFill>
          <a:ln w="6350">
            <a:solidFill>
              <a:srgbClr val="8A75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4A76C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三个参照系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4480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泡泡玛特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4846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A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市值 ¥370亿+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5212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98% 来自IP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2% 来自零售能力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4480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故宫文创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4846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A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年营收 ¥15亿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5212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主要来自IP授权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非传统商品销售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4480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名创优品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46720" y="4846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A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IP联名占比持续上升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5212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IP化是所有消费品牌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的必经路径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C4A76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C4A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STRATEGY ·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山川造物的独特优势：IP母体天然存在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212080" cy="4389120"/>
          </a:xfrm>
          <a:prstGeom prst="rect">
            <a:avLst/>
          </a:prstGeom>
          <a:solidFill>
            <a:srgbClr val="262320"/>
          </a:solidFill>
          <a:ln w="6350">
            <a:solidFill>
              <a:srgbClr val="3A35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9A90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传统IP公司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1C8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从零创造角色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D1C8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需要长期市场验证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D1C8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高昂的IP孵化成本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A09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泡泡玛特MOLLY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A09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故宫从千万藏品中提炼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A7530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孵化周期：3-5年
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212080" cy="4389120"/>
          </a:xfrm>
          <a:prstGeom prst="rect">
            <a:avLst/>
          </a:prstGeom>
          <a:solidFill>
            <a:srgbClr val="FAF6ED"/>
          </a:solidFill>
          <a:ln w="12700">
            <a:solidFill>
              <a:srgbClr val="C4A7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7530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山川造物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46888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2320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镇店标本 = 现成IP母体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8B6F47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每一件都是独一无二的"神兽"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8B6F47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天然具备稀缺性+叙事性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A7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长春的玄骁（黑马）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A7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大理的蝶君（蝴蝶王）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A7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每城一神兽，形成图鉴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4A76C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孵化周期：3-6个月
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4A76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我们不从零创造IP。我们的IP已经站在门店里，只是还没有名字。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C4A76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C4A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STRATEGY ·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案例：长春店·玄骁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A76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玄 · 北方之色，玄武之属    骁 · 骁勇之马，神兽之名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3429000" cy="1600200"/>
          </a:xfrm>
          <a:prstGeom prst="rect">
            <a:avLst/>
          </a:prstGeom>
          <a:solidFill>
            <a:srgbClr val="262320"/>
          </a:solidFill>
          <a:ln w="6350">
            <a:solidFill>
              <a:srgbClr val="8A75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A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视觉锚定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长春店现有镇店之宝，消费者记忆点已形成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2194560"/>
            <a:ext cx="3429000" cy="1600200"/>
          </a:xfrm>
          <a:prstGeom prst="rect">
            <a:avLst/>
          </a:prstGeom>
          <a:solidFill>
            <a:srgbClr val="262320"/>
          </a:solidFill>
          <a:ln w="6350">
            <a:solidFill>
              <a:srgbClr val="8A75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A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7492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情绪钩子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8803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做自己人生的黑马 / 镇宅转运 / 黑夜陪伴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2194560"/>
            <a:ext cx="3429000" cy="1600200"/>
          </a:xfrm>
          <a:prstGeom prst="rect">
            <a:avLst/>
          </a:prstGeom>
          <a:solidFill>
            <a:srgbClr val="262320"/>
          </a:solidFill>
          <a:ln w="6350">
            <a:solidFill>
              <a:srgbClr val="8A75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A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✧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73252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打卡仪式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0" y="28803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摸一下玄骁的鬃毛，做自己人生的黑马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023360"/>
            <a:ext cx="3429000" cy="1600200"/>
          </a:xfrm>
          <a:prstGeom prst="rect">
            <a:avLst/>
          </a:prstGeom>
          <a:solidFill>
            <a:srgbClr val="262320"/>
          </a:solidFill>
          <a:ln w="6350">
            <a:solidFill>
              <a:srgbClr val="8A75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A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17320" y="4206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周边延展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47091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Q版手办 / 印章卡片 / 季节限定 / 品牌联名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0" y="4023360"/>
            <a:ext cx="3429000" cy="1600200"/>
          </a:xfrm>
          <a:prstGeom prst="rect">
            <a:avLst/>
          </a:prstGeom>
          <a:solidFill>
            <a:srgbClr val="262320"/>
          </a:solidFill>
          <a:ln w="6350">
            <a:solidFill>
              <a:srgbClr val="8A75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A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074920" y="4206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数字藏品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0" y="47091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小程序徽章 / 会员等级图腾 / 神兽图鉴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46720" y="4023360"/>
            <a:ext cx="3429000" cy="1600200"/>
          </a:xfrm>
          <a:prstGeom prst="rect">
            <a:avLst/>
          </a:prstGeom>
          <a:solidFill>
            <a:srgbClr val="262320"/>
          </a:solidFill>
          <a:ln w="6350">
            <a:solidFill>
              <a:srgbClr val="8A75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A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732520" y="4206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内容叙事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0" y="47091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公众号连载《玄骁的一年》/ 短视频剧场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4A76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每一个元素都是可复制到其他城市的IP方法论。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C4A76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C4A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STRATEGY ·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山川神兽图鉴：每城一神兽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9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branches. A mythological atlas that collectors want to complete.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3429000" cy="1737360"/>
          </a:xfrm>
          <a:prstGeom prst="rect">
            <a:avLst/>
          </a:prstGeom>
          <a:solidFill>
            <a:srgbClr val="FAF6ED"/>
          </a:solidFill>
          <a:ln w="15240">
            <a:solidFill>
              <a:srgbClr val="C4A7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长春 Changchun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A7530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玄骁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6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Xuanxiao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6232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做自己的黑马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32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东北沉默守护者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2331720"/>
            <a:ext cx="1005840" cy="228600"/>
          </a:xfrm>
          <a:prstGeom prst="rect">
            <a:avLst/>
          </a:prstGeom>
          <a:solidFill>
            <a:srgbClr val="C4A76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已落地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2194560"/>
            <a:ext cx="3429000" cy="1737360"/>
          </a:xfrm>
          <a:prstGeom prst="rect">
            <a:avLst/>
          </a:prstGeom>
          <a:solidFill>
            <a:srgbClr val="262320"/>
          </a:solidFill>
          <a:ln w="6350">
            <a:solidFill>
              <a:srgbClr val="8A75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3317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0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大理 Dali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蝶君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0" y="30175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9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Diejun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3246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破茧而出的勇气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云南雨林变身者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0" y="23317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规划中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46720" y="2194560"/>
            <a:ext cx="3429000" cy="1737360"/>
          </a:xfrm>
          <a:prstGeom prst="rect">
            <a:avLst/>
          </a:prstGeom>
          <a:solidFill>
            <a:srgbClr val="262320"/>
          </a:solidFill>
          <a:ln w="6350">
            <a:solidFill>
              <a:srgbClr val="8A75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23317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0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杭州 Hangzhou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白露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229600" y="30175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9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Bailu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3246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清雅自持的守望者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西湖文人神兽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332720" y="23317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规划中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4160520"/>
            <a:ext cx="3429000" cy="1737360"/>
          </a:xfrm>
          <a:prstGeom prst="rect">
            <a:avLst/>
          </a:prstGeom>
          <a:solidFill>
            <a:srgbClr val="262320"/>
          </a:solidFill>
          <a:ln w="6350">
            <a:solidFill>
              <a:srgbClr val="8A75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2976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0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成都 Chengdu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" y="4526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花间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14400" y="49834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9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Huajian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" y="5212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慢生活的哲学家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四川松弛系代言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17520" y="42976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规划中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89120" y="4160520"/>
            <a:ext cx="3429000" cy="1737360"/>
          </a:xfrm>
          <a:prstGeom prst="rect">
            <a:avLst/>
          </a:prstGeom>
          <a:solidFill>
            <a:srgbClr val="262320"/>
          </a:solidFill>
          <a:ln w="6350">
            <a:solidFill>
              <a:srgbClr val="8A75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42976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0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海南 Hainan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0" y="4526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珊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4572000" y="49834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9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0" y="5212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深海的温柔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热带治愈系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75120" y="42976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规划中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046720" y="4160520"/>
            <a:ext cx="3429000" cy="1737360"/>
          </a:xfrm>
          <a:prstGeom prst="rect">
            <a:avLst/>
          </a:prstGeom>
          <a:solidFill>
            <a:srgbClr val="262320"/>
          </a:solidFill>
          <a:ln w="6350">
            <a:solidFill>
              <a:srgbClr val="8A75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42976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0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上海 Shanghai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4526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待定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8229600" y="49834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9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TBD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5212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繁华中的本真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都市神兽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332720" y="42976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规划中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C4A76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C4A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STRATEGY ·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IP对商业模型的三重放大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0698480" cy="1188720"/>
          </a:xfrm>
          <a:prstGeom prst="rect">
            <a:avLst/>
          </a:prstGeom>
          <a:solidFill>
            <a:srgbClr val="262320"/>
          </a:solidFill>
          <a:ln w="6350">
            <a:solidFill>
              <a:srgbClr val="8A75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402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C4A7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10312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单店估值放大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03120" y="2697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76C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从零售门店（PE 10-15倍）升级为IP体验店（PE 25-40倍）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3017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一家普通标本店的估值天花板在单店收入的10倍左右。加入IP和玄学叙事后，估值体系切换到文创/IP赛道，天花板打开3-4倍。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474720"/>
            <a:ext cx="10698480" cy="1188720"/>
          </a:xfrm>
          <a:prstGeom prst="rect">
            <a:avLst/>
          </a:prstGeom>
          <a:solidFill>
            <a:srgbClr val="262320"/>
          </a:solidFill>
          <a:ln w="6350">
            <a:solidFill>
              <a:srgbClr val="8A75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6118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C4A7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10312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毛利结构升级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03120" y="4069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76C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周边IP产品毛利 60-80% 显著高于标本类目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43891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Q版手办、印章卡片、限定周边、数字藏品——这些IP衍生品的毛利远高于实体标本。泡泡玛特整体毛利率 60%+，故宫文创部分SKU超80%。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4846320"/>
            <a:ext cx="10698480" cy="1188720"/>
          </a:xfrm>
          <a:prstGeom prst="rect">
            <a:avLst/>
          </a:prstGeom>
          <a:solidFill>
            <a:srgbClr val="262320"/>
          </a:solidFill>
          <a:ln w="6350">
            <a:solidFill>
              <a:srgbClr val="8A75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9834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C4A7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2103120" y="5029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第二增长曲线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03120" y="5440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76C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IP授权/联名/数字化构成未来独立营收线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5760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当神兽图鉴体系成型后，IP本身成为可授权、可联名、可数字化的独立资产。这是一条不依赖开店的增长曲线。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A76C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IP不是成本，是倍数。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C4A76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C4A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STRATEGY ·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IP投入规划与里程碑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429000" cy="4572000"/>
          </a:xfrm>
          <a:prstGeom prst="rect">
            <a:avLst/>
          </a:prstGeom>
          <a:solidFill>
            <a:srgbClr val="262320"/>
          </a:solidFill>
          <a:ln w="10160">
            <a:solidFill>
              <a:srgbClr val="C4A7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C4A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0-3个月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A76C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预算  ¥5万以内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200400"/>
            <a:ext cx="3063240" cy="0"/>
          </a:xfrm>
          <a:prstGeom prst="line">
            <a:avLst/>
          </a:prstGeom>
          <a:noFill/>
          <a:ln w="6350">
            <a:solidFill>
              <a:srgbClr val="8A75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91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4A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关键动作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玄骁命名确定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情绪钩子文案定稿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打卡仪式铜牌制作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印章卡片设计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《玄骁的一年》公众号开篇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5440680"/>
            <a:ext cx="3063240" cy="0"/>
          </a:xfrm>
          <a:prstGeom prst="line">
            <a:avLst/>
          </a:prstGeom>
          <a:noFill/>
          <a:ln w="6350">
            <a:solidFill>
              <a:srgbClr val="8A75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532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4A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里程碑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58064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验证IP叙事吸引力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UGC传播量测试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1920240"/>
            <a:ext cx="3429000" cy="4572000"/>
          </a:xfrm>
          <a:prstGeom prst="rect">
            <a:avLst/>
          </a:prstGeom>
          <a:solidFill>
            <a:srgbClr val="262320"/>
          </a:solidFill>
          <a:ln w="10160">
            <a:solidFill>
              <a:srgbClr val="C4A7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103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C4A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2423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3-12个月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A76C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预算  ¥30-50万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200400"/>
            <a:ext cx="3063240" cy="0"/>
          </a:xfrm>
          <a:prstGeom prst="line">
            <a:avLst/>
          </a:prstGeom>
          <a:noFill/>
          <a:ln w="6350">
            <a:solidFill>
              <a:srgbClr val="8A75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291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4A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关键动作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356616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Q版手办设计与打样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季节限定首发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小程序徽章系统上线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本地联名第一款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内容矩阵持续运营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5440680"/>
            <a:ext cx="3063240" cy="0"/>
          </a:xfrm>
          <a:prstGeom prst="line">
            <a:avLst/>
          </a:prstGeom>
          <a:noFill/>
          <a:ln w="6350">
            <a:solidFill>
              <a:srgbClr val="8A75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5532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4A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里程碑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58064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首个IP商品线营收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品牌文化符号形成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0" y="1920240"/>
            <a:ext cx="3429000" cy="4572000"/>
          </a:xfrm>
          <a:prstGeom prst="rect">
            <a:avLst/>
          </a:prstGeom>
          <a:solidFill>
            <a:srgbClr val="262320"/>
          </a:solidFill>
          <a:ln w="10160">
            <a:solidFill>
              <a:srgbClr val="C4A7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2103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C4A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2423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12个月+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22960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A76C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预算  ¥100-300万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9600" y="3200400"/>
            <a:ext cx="3063240" cy="0"/>
          </a:xfrm>
          <a:prstGeom prst="line">
            <a:avLst/>
          </a:prstGeom>
          <a:noFill/>
          <a:ln w="6350">
            <a:solidFill>
              <a:srgbClr val="8A75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3291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4A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关键动作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356616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大理·蝶君同步推进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神兽图鉴体系化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IP授权商业探索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数字藏品布局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5D1C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跨城联动活动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0" y="5440680"/>
            <a:ext cx="3063240" cy="0"/>
          </a:xfrm>
          <a:prstGeom prst="line">
            <a:avLst/>
          </a:prstGeom>
          <a:noFill/>
          <a:ln w="6350">
            <a:solidFill>
              <a:srgbClr val="8A75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5532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4A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里程碑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58064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IP授权独立营收线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思源黑体" pitchFamily="34" charset="0"/>
                <a:ea typeface="思源黑体" pitchFamily="34" charset="-122"/>
                <a:cs typeface="思源黑体" pitchFamily="34" charset="-120"/>
              </a:rPr>
              <a:t>第二增长曲线验证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" y="66294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4A76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3年目标：IP营收占总营收比重超过 25%。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IP战略投资叙事</dc:title>
  <dc:subject>PptxGenJS Presentation</dc:subject>
  <dc:creator>山川造物</dc:creator>
  <cp:lastModifiedBy>山川造物</cp:lastModifiedBy>
  <cp:revision>1</cp:revision>
  <dcterms:created xsi:type="dcterms:W3CDTF">2026-04-16T09:14:55Z</dcterms:created>
  <dcterms:modified xsi:type="dcterms:W3CDTF">2026-04-16T09:14:55Z</dcterms:modified>
</cp:coreProperties>
</file>